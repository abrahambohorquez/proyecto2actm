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4E8C"/>
                </a:solidFill>
                <a:latin typeface="Calibri"/>
              </a:rPr>
              <a:t>Predicción de bajo desempeño en inglés en Córdoba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55555"/>
                </a:solidFill>
                <a:latin typeface="Calibri"/>
              </a:rPr>
              <a:t>Modelo predictivo para la Secretaría de Educación de Córdoba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8C"/>
                </a:solidFill>
                <a:latin typeface="Calibri"/>
              </a:rPr>
              <a:t>¿Podemos identificar — antes del Saber 11 — a los estudiantes que caerán en el nivel más bajo de inglés (A−), para focalizar refuerzo a tiempo?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194,070 estudiantes de Córdoba analizados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61% del departamento cae en nivel A− (sin alcanzar siquiera el básico inicial)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 137 variables del contexto familiar, del colegio y del municipio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Metodología: rigor en el modelado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492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División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Split estratificado 70/15/15 — 135,926 train, 29,033 val, 29,111 test (test aislado hasta el final)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492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Baseline obligatorio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Regresión logística como referencia (F1 = 0.72, AUC = 0.70) — fija el piso que la red debe superar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60520"/>
            <a:ext cx="53492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Red neuronal MLP — 5 arquitecturas probadas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32-16  /  64-32  /  128-64  /  128-64-32  /  256-128-64 — con class weight balanceado y EarlyStopping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160520"/>
            <a:ext cx="5349240" cy="24688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1F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37960" y="4297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937759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Todos los experimentos registrados en MLflow con sus parámetros, métricas y modelos serializados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8C"/>
                </a:solidFill>
                <a:latin typeface="Calibri"/>
              </a:rPr>
              <a:t>Cómo construimos el mejor modelo: paso a paso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97280" y="1554480"/>
          <a:ext cx="9966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2057400"/>
                <a:gridCol w="2057400"/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Versión del modelo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Baseline (regresión logística)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Red neuronal base (102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+ Threshold optimizado (0.29)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/>
                        </a:rP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1F4E8C"/>
                          </a:solidFill>
                          <a:latin typeface="Calibri"/>
                        </a:rPr>
                        <a:t>+ Municipio + Colegio (target encoding)</a:t>
                      </a:r>
                    </a:p>
                  </a:txBody>
                  <a:tcPr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8C"/>
                          </a:solidFill>
                          <a:latin typeface="Calibri"/>
                        </a:rPr>
                        <a:t>0.79</a:t>
                      </a:r>
                    </a:p>
                  </a:txBody>
                  <a:tcPr>
                    <a:solidFill>
                      <a:srgbClr val="D6E4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F4E8C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D6E4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8C"/>
                </a:solidFill>
                <a:latin typeface="Calibri"/>
              </a:rPr>
              <a:t>La mayor ganancia vino del feature engineering, no de cambiar la arquitectura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E8C"/>
                </a:solidFill>
                <a:latin typeface="Calibri"/>
              </a:rPr>
              <a:t>El modelo identifica al 95% de los estudiantes en riesgo</a:t>
            </a:r>
          </a:p>
        </p:txBody>
      </p:sp>
      <p:pic>
        <p:nvPicPr>
          <p:cNvPr id="3" name="Picture 2" descr="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198880" cy="4389120"/>
          </a:xfrm>
          <a:prstGeom prst="rect">
            <a:avLst/>
          </a:prstGeom>
        </p:spPr>
      </p:pic>
      <p:pic>
        <p:nvPicPr>
          <p:cNvPr id="4" name="Picture 3" descr="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147241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F1 = 0.79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Recall = 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4E8C"/>
                </a:solidFill>
                <a:latin typeface="Calibri"/>
              </a:rPr>
              <a:t>AUC = 0.74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Evaluación sobre 29,111 estudiantes que el modelo nunca había visto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4E8C"/>
                </a:solidFill>
                <a:latin typeface="Calibri"/>
              </a:rPr>
              <a:t>El colegio pesa más que el estrato — el hallazgo clave</a:t>
            </a:r>
          </a:p>
        </p:txBody>
      </p:sp>
      <p:pic>
        <p:nvPicPr>
          <p:cNvPr id="3" name="Picture 2" descr="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629525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463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4E8C"/>
                </a:solidFill>
                <a:latin typeface="Calibri"/>
              </a:rPr>
              <a:t>El colegio pesa 5x más</a:t>
            </a:r>
          </a:p>
          <a:p>
            <a:pPr algn="l"/>
            <a:r>
              <a:rPr sz="2400" b="1" i="0">
                <a:solidFill>
                  <a:srgbClr val="1F4E8C"/>
                </a:solidFill>
                <a:latin typeface="Calibri"/>
              </a:rPr>
              <a:t>que cualquier otra variable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320040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Más que el estrato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Más que la educación de los padres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/>
              </a:rPr>
              <a:t>•  Más que el municipio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52120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Internet y computador en casa pesan más que el estrato directo: el aprendizaje del inglés depende del consumo digital.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8C"/>
                </a:solidFill>
                <a:latin typeface="Calibri"/>
              </a:rPr>
              <a:t>Acciones para la Secretaría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1. Identificar y replicar prácticas de colegios 'outperformers'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Mapear qué hacen los colegios que sí logran sacar a sus estudiantes del A−. Es la palanca de mayor retorno.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2. Conectividad digital sobre transferencias económicas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Internet y computador en el hogar muestran más relación con el desempeño en inglés que las ayudas genéricas.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8C"/>
                </a:solidFill>
                <a:latin typeface="Calibri"/>
              </a:rPr>
              <a:t>3. Estrategias regionales diferenciadas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Montería opera distinto al resto del departamento. No aplica una estrategia única para todo Córdoba.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Limitación: el AUC techo de 0.74 indica que hay variables fuera del dataset (motivación individual, calidad docente específica) que el modelo no captura. Se recomienda re-entrenar anualmente con datos nuevos.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8C"/>
                </a:solidFill>
                <a:latin typeface="Calibri"/>
              </a:rPr>
              <a:t>Modelo serializado y listo para integrarse al tablero de la Secretaría.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